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5240000" cy="8572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parator 2"/>
          <p:cNvSpPr/>
          <p:nvPr/>
        </p:nvSpPr>
        <p:spPr>
          <a:xfrm>
            <a:off x="476250" y="1428750"/>
            <a:ext cx="14287500" cy="952"/>
          </a:xfrm>
          <a:prstGeom prst="line">
            <a:avLst/>
          </a:prstGeom>
          <a:ln w="4763">
            <a:solidFill>
              <a:srgbClr val="6F726F"/>
            </a:solidFill>
          </a:ln>
        </p:spPr>
      </p:sp>
      <p:sp>
        <p:nvSpPr>
          <p:cNvPr id="3" name="Separator 3"/>
          <p:cNvSpPr/>
          <p:nvPr/>
        </p:nvSpPr>
        <p:spPr>
          <a:xfrm>
            <a:off x="476250" y="7096125"/>
            <a:ext cx="14287500" cy="952"/>
          </a:xfrm>
          <a:prstGeom prst="line">
            <a:avLst/>
          </a:prstGeom>
          <a:ln w="4763">
            <a:solidFill>
              <a:srgbClr val="6F726F"/>
            </a:solidFill>
          </a:ln>
        </p:spPr>
      </p:sp>
      <p:sp>
        <p:nvSpPr>
          <p:cNvPr id="4" name="Text 4: MADOGIWA / CREATIVE WORKS"/>
          <p:cNvSpPr txBox="1"/>
          <p:nvPr/>
        </p:nvSpPr>
        <p:spPr>
          <a:xfrm>
            <a:off x="476250" y="242888"/>
            <a:ext cx="14287500" cy="356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MADOGIWA / CREATIVE WORKS</a:t>
            </a:r>
            <a:endParaRPr lang="ja-JP"/>
          </a:p>
        </p:txBody>
      </p:sp>
      <p:sp>
        <p:nvSpPr>
          <p:cNvPr id="5" name="Text 5: 窓際族物語"/>
          <p:cNvSpPr txBox="1"/>
          <p:nvPr/>
        </p:nvSpPr>
        <p:spPr>
          <a:xfrm>
            <a:off x="476250" y="714896"/>
            <a:ext cx="14287500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3600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窓際族物語</a:t>
            </a:r>
            <a:endParaRPr lang="ja-JP"/>
          </a:p>
        </p:txBody>
      </p:sp>
      <p:sp>
        <p:nvSpPr>
          <p:cNvPr id="6" name="Text 6: キャラクターと映像を育てる制作プロジェクト"/>
          <p:cNvSpPr txBox="1"/>
          <p:nvPr/>
        </p:nvSpPr>
        <p:spPr>
          <a:xfrm>
            <a:off x="3905250" y="831945"/>
            <a:ext cx="10858500" cy="462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202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キャラクターと映像を育てる制作プロジェクト</a:t>
            </a:r>
            <a:endParaRPr lang="ja-JP"/>
          </a:p>
        </p:txBody>
      </p:sp>
      <p:sp>
        <p:nvSpPr>
          <p:cNvPr id="7" name="Text 7: CHARACTERS"/>
          <p:cNvSpPr txBox="1"/>
          <p:nvPr/>
        </p:nvSpPr>
        <p:spPr>
          <a:xfrm>
            <a:off x="476250" y="1604962"/>
            <a:ext cx="3714750" cy="356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CHARACTERS</a:t>
            </a:r>
            <a:endParaRPr lang="ja-JP"/>
          </a:p>
        </p:txBody>
      </p:sp>
      <p:sp>
        <p:nvSpPr>
          <p:cNvPr id="8" name="Text 8: SHORT FILMS"/>
          <p:cNvSpPr txBox="1"/>
          <p:nvPr/>
        </p:nvSpPr>
        <p:spPr>
          <a:xfrm>
            <a:off x="4524375" y="1604962"/>
            <a:ext cx="6238875" cy="356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SHORT FILMS</a:t>
            </a:r>
            <a:endParaRPr lang="ja-JP"/>
          </a:p>
        </p:txBody>
      </p:sp>
      <p:sp>
        <p:nvSpPr>
          <p:cNvPr id="9" name="Text 9: PRODUCTION"/>
          <p:cNvSpPr txBox="1"/>
          <p:nvPr/>
        </p:nvSpPr>
        <p:spPr>
          <a:xfrm>
            <a:off x="11049000" y="1604962"/>
            <a:ext cx="3714750" cy="356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PRODUCTION</a:t>
            </a:r>
            <a:endParaRPr lang="ja-JP"/>
          </a:p>
        </p:txBody>
      </p:sp>
      <p:pic>
        <p:nvPicPr>
          <p:cNvPr id="10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48" y="2095500"/>
            <a:ext cx="3379578" cy="1902023"/>
          </a:xfrm>
          <a:prstGeom prst="rect">
            <a:avLst/>
          </a:prstGeom>
        </p:spPr>
      </p:pic>
      <p:pic>
        <p:nvPicPr>
          <p:cNvPr id="11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68973"/>
            <a:ext cx="3381375" cy="2254250"/>
          </a:xfrm>
          <a:prstGeom prst="rect">
            <a:avLst/>
          </a:prstGeom>
        </p:spPr>
      </p:pic>
      <p:sp>
        <p:nvSpPr>
          <p:cNvPr id="12" name="Text 12: そば屋／福ギュン"/>
          <p:cNvSpPr txBox="1"/>
          <p:nvPr/>
        </p:nvSpPr>
        <p:spPr>
          <a:xfrm>
            <a:off x="476250" y="6637930"/>
            <a:ext cx="371475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350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そば屋／福ギュン</a:t>
            </a:r>
            <a:endParaRPr lang="ja-JP"/>
          </a:p>
        </p:txBody>
      </p:sp>
      <p:pic>
        <p:nvPicPr>
          <p:cNvPr id="13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375" y="2095500"/>
            <a:ext cx="1952625" cy="3471333"/>
          </a:xfrm>
          <a:prstGeom prst="rect">
            <a:avLst/>
          </a:prstGeom>
        </p:spPr>
      </p:pic>
      <p:sp>
        <p:nvSpPr>
          <p:cNvPr id="14" name="Text 14: パロディCM"/>
          <p:cNvSpPr txBox="1"/>
          <p:nvPr/>
        </p:nvSpPr>
        <p:spPr>
          <a:xfrm>
            <a:off x="4524375" y="5725172"/>
            <a:ext cx="6238875" cy="2914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275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パロディCM</a:t>
            </a:r>
            <a:endParaRPr lang="ja-JP"/>
          </a:p>
        </p:txBody>
      </p:sp>
      <p:sp>
        <p:nvSpPr>
          <p:cNvPr id="15" name="Text 15: 土下座レース篇"/>
          <p:cNvSpPr txBox="1"/>
          <p:nvPr/>
        </p:nvSpPr>
        <p:spPr>
          <a:xfrm>
            <a:off x="4524375" y="6018694"/>
            <a:ext cx="62388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土下座レース篇</a:t>
            </a:r>
            <a:endParaRPr lang="ja-JP"/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2095500"/>
            <a:ext cx="1952625" cy="3471333"/>
          </a:xfrm>
          <a:prstGeom prst="rect">
            <a:avLst/>
          </a:prstGeom>
        </p:spPr>
      </p:pic>
      <p:sp>
        <p:nvSpPr>
          <p:cNvPr id="17" name="Text 17: 架空ニュース"/>
          <p:cNvSpPr txBox="1"/>
          <p:nvPr/>
        </p:nvSpPr>
        <p:spPr>
          <a:xfrm>
            <a:off x="6648450" y="5725172"/>
            <a:ext cx="4114800" cy="2914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275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架空ニュース</a:t>
            </a:r>
            <a:endParaRPr lang="ja-JP"/>
          </a:p>
        </p:txBody>
      </p:sp>
      <p:sp>
        <p:nvSpPr>
          <p:cNvPr id="18" name="Text 18: ちくわの水揚げ"/>
          <p:cNvSpPr txBox="1"/>
          <p:nvPr/>
        </p:nvSpPr>
        <p:spPr>
          <a:xfrm>
            <a:off x="6648450" y="6018694"/>
            <a:ext cx="411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ちくわの水揚げ</a:t>
            </a:r>
            <a:endParaRPr lang="ja-JP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525" y="2095500"/>
            <a:ext cx="1952625" cy="3471333"/>
          </a:xfrm>
          <a:prstGeom prst="rect">
            <a:avLst/>
          </a:prstGeom>
        </p:spPr>
      </p:pic>
      <p:sp>
        <p:nvSpPr>
          <p:cNvPr id="20" name="Text 20: キャラクターの物語"/>
          <p:cNvSpPr txBox="1"/>
          <p:nvPr/>
        </p:nvSpPr>
        <p:spPr>
          <a:xfrm>
            <a:off x="8772525" y="5725172"/>
            <a:ext cx="1990725" cy="2914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275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キャラクターの物語</a:t>
            </a:r>
            <a:endParaRPr lang="ja-JP"/>
          </a:p>
        </p:txBody>
      </p:sp>
      <p:sp>
        <p:nvSpPr>
          <p:cNvPr id="21" name="Text 21: 福ギュン誕生"/>
          <p:cNvSpPr txBox="1"/>
          <p:nvPr/>
        </p:nvSpPr>
        <p:spPr>
          <a:xfrm>
            <a:off x="8772525" y="6018694"/>
            <a:ext cx="19907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福ギュン誕生</a:t>
            </a:r>
            <a:endParaRPr lang="ja-JP"/>
          </a:p>
        </p:txBody>
      </p:sp>
      <p:sp>
        <p:nvSpPr>
          <p:cNvPr id="22" name="Text 22: 台本・参照素材を準備"/>
          <p:cNvSpPr txBox="1"/>
          <p:nvPr/>
        </p:nvSpPr>
        <p:spPr>
          <a:xfrm>
            <a:off x="11049000" y="2145557"/>
            <a:ext cx="3714750" cy="39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72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台本・参照素材を準備</a:t>
            </a:r>
            <a:endParaRPr lang="ja-JP"/>
          </a:p>
        </p:txBody>
      </p:sp>
      <p:sp>
        <p:nvSpPr>
          <p:cNvPr id="23" name="Text 23: 顔・体形・声を継続して保つ。"/>
          <p:cNvSpPr txBox="1"/>
          <p:nvPr/>
        </p:nvSpPr>
        <p:spPr>
          <a:xfrm>
            <a:off x="11049000" y="2561230"/>
            <a:ext cx="371475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350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顔・体形・声を継続して保つ。</a:t>
            </a:r>
            <a:endParaRPr lang="ja-JP"/>
          </a:p>
        </p:txBody>
      </p:sp>
      <p:pic>
        <p:nvPicPr>
          <p:cNvPr id="24" name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0" y="3067050"/>
            <a:ext cx="381000" cy="381000"/>
          </a:xfrm>
          <a:prstGeom prst="rect">
            <a:avLst/>
          </a:prstGeom>
        </p:spPr>
      </p:pic>
      <p:sp>
        <p:nvSpPr>
          <p:cNvPr id="25" name="Text 25: Seedance"/>
          <p:cNvSpPr txBox="1"/>
          <p:nvPr/>
        </p:nvSpPr>
        <p:spPr>
          <a:xfrm>
            <a:off x="11553825" y="3122288"/>
            <a:ext cx="32099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87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Seedance</a:t>
            </a:r>
            <a:endParaRPr lang="ja-JP"/>
          </a:p>
        </p:txBody>
      </p:sp>
      <p:sp>
        <p:nvSpPr>
          <p:cNvPr id="26" name="Text 26: ByteDance Seed"/>
          <p:cNvSpPr txBox="1"/>
          <p:nvPr/>
        </p:nvSpPr>
        <p:spPr>
          <a:xfrm>
            <a:off x="11553825" y="3415052"/>
            <a:ext cx="3209925" cy="2228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975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ByteDance Seed</a:t>
            </a:r>
            <a:endParaRPr lang="ja-JP"/>
          </a:p>
        </p:txBody>
      </p:sp>
      <p:pic>
        <p:nvPicPr>
          <p:cNvPr id="27" name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0" y="3581400"/>
            <a:ext cx="381000" cy="381000"/>
          </a:xfrm>
          <a:prstGeom prst="rect">
            <a:avLst/>
          </a:prstGeom>
        </p:spPr>
      </p:pic>
      <p:sp>
        <p:nvSpPr>
          <p:cNvPr id="28" name="Text 28: Wan"/>
          <p:cNvSpPr txBox="1"/>
          <p:nvPr/>
        </p:nvSpPr>
        <p:spPr>
          <a:xfrm>
            <a:off x="11553825" y="3646163"/>
            <a:ext cx="32099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87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Wan</a:t>
            </a:r>
            <a:endParaRPr lang="ja-JP"/>
          </a:p>
        </p:txBody>
      </p:sp>
      <p:pic>
        <p:nvPicPr>
          <p:cNvPr id="29" name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49000" y="4095750"/>
            <a:ext cx="381000" cy="381000"/>
          </a:xfrm>
          <a:prstGeom prst="rect">
            <a:avLst/>
          </a:prstGeom>
        </p:spPr>
      </p:pic>
      <p:sp>
        <p:nvSpPr>
          <p:cNvPr id="30" name="Text 30: MiniMax H3"/>
          <p:cNvSpPr txBox="1"/>
          <p:nvPr/>
        </p:nvSpPr>
        <p:spPr>
          <a:xfrm>
            <a:off x="11553825" y="4160513"/>
            <a:ext cx="3209925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87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MiniMax H3</a:t>
            </a:r>
            <a:endParaRPr lang="ja-JP"/>
          </a:p>
        </p:txBody>
      </p:sp>
      <p:sp>
        <p:nvSpPr>
          <p:cNvPr id="31" name="Text 31: 映像生成と確認・修正"/>
          <p:cNvSpPr txBox="1"/>
          <p:nvPr/>
        </p:nvSpPr>
        <p:spPr>
          <a:xfrm>
            <a:off x="11049000" y="4650632"/>
            <a:ext cx="3714750" cy="39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72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映像生成と確認・修正</a:t>
            </a:r>
            <a:endParaRPr lang="ja-JP"/>
          </a:p>
        </p:txBody>
      </p:sp>
      <p:sp>
        <p:nvSpPr>
          <p:cNvPr id="32" name="Text 32: 字幕・BGM・尺を編集し、"/>
          <p:cNvSpPr txBox="1"/>
          <p:nvPr/>
        </p:nvSpPr>
        <p:spPr>
          <a:xfrm>
            <a:off x="11049000" y="5078420"/>
            <a:ext cx="3714750" cy="3257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425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字幕・BGM・尺を編集し、</a:t>
            </a:r>
            <a:endParaRPr lang="ja-JP"/>
          </a:p>
        </p:txBody>
      </p:sp>
      <p:sp>
        <p:nvSpPr>
          <p:cNvPr id="33" name="Text 33: 縦9:16のShortsへ仕上げる。"/>
          <p:cNvSpPr txBox="1"/>
          <p:nvPr/>
        </p:nvSpPr>
        <p:spPr>
          <a:xfrm>
            <a:off x="11049000" y="5373695"/>
            <a:ext cx="3714750" cy="3257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425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縦9:16のShortsへ仕上げる。</a:t>
            </a:r>
            <a:endParaRPr lang="ja-JP"/>
          </a:p>
        </p:txBody>
      </p:sp>
      <p:sp>
        <p:nvSpPr>
          <p:cNvPr id="34" name="Text 34: ノウハウを共有"/>
          <p:cNvSpPr txBox="1"/>
          <p:nvPr/>
        </p:nvSpPr>
        <p:spPr>
          <a:xfrm>
            <a:off x="11049000" y="5974607"/>
            <a:ext cx="3714750" cy="39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725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ノウハウを共有</a:t>
            </a:r>
            <a:endParaRPr lang="ja-JP"/>
          </a:p>
        </p:txBody>
      </p:sp>
      <p:sp>
        <p:nvSpPr>
          <p:cNvPr id="35" name="Text 35: プロンプト・参照素材を公開。"/>
          <p:cNvSpPr txBox="1"/>
          <p:nvPr/>
        </p:nvSpPr>
        <p:spPr>
          <a:xfrm>
            <a:off x="11049000" y="6371230"/>
            <a:ext cx="3714750" cy="3086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350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プロンプト・参照素材を公開。</a:t>
            </a:r>
            <a:endParaRPr lang="ja-JP"/>
          </a:p>
        </p:txBody>
      </p:sp>
      <p:sp>
        <p:nvSpPr>
          <p:cNvPr id="36" name="Text 36: 制作  そば屋 ＋ たこさん"/>
          <p:cNvSpPr txBox="1"/>
          <p:nvPr/>
        </p:nvSpPr>
        <p:spPr>
          <a:xfrm>
            <a:off x="476250" y="7317632"/>
            <a:ext cx="5048250" cy="39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72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制作  そば屋 ＋ たこさん</a:t>
            </a:r>
            <a:endParaRPr lang="ja-JP"/>
          </a:p>
        </p:txBody>
      </p:sp>
      <p:sp>
        <p:nvSpPr>
          <p:cNvPr id="37" name="Text 37: アドバイザー  福ギュン／無職やめ太郎"/>
          <p:cNvSpPr txBox="1"/>
          <p:nvPr/>
        </p:nvSpPr>
        <p:spPr>
          <a:xfrm>
            <a:off x="476250" y="7700386"/>
            <a:ext cx="504825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アドバイザー  福ギュン／無職やめ太郎</a:t>
            </a:r>
            <a:endParaRPr lang="ja-JP"/>
          </a:p>
        </p:txBody>
      </p:sp>
      <p:sp>
        <p:nvSpPr>
          <p:cNvPr id="38" name="Text 38: 提案への応用例"/>
          <p:cNvSpPr txBox="1"/>
          <p:nvPr/>
        </p:nvSpPr>
        <p:spPr>
          <a:xfrm>
            <a:off x="5905500" y="7312451"/>
            <a:ext cx="552450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75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提案への応用例</a:t>
            </a:r>
            <a:endParaRPr lang="ja-JP"/>
          </a:p>
        </p:txBody>
      </p:sp>
      <p:sp>
        <p:nvSpPr>
          <p:cNvPr id="39" name="Text 39: 企業・商品のキャラで短尺動画を試作。"/>
          <p:cNvSpPr txBox="1"/>
          <p:nvPr/>
        </p:nvSpPr>
        <p:spPr>
          <a:xfrm>
            <a:off x="5905500" y="7664876"/>
            <a:ext cx="5524500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75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企業・商品のキャラで短尺動画を試作。</a:t>
            </a:r>
            <a:endParaRPr lang="ja-JP"/>
          </a:p>
        </p:txBody>
      </p:sp>
      <p:sp>
        <p:nvSpPr>
          <p:cNvPr id="40" name="Text 40: 表現と品質を確認し、連作企画へ。"/>
          <p:cNvSpPr txBox="1"/>
          <p:nvPr/>
        </p:nvSpPr>
        <p:spPr>
          <a:xfrm>
            <a:off x="5905500" y="7976611"/>
            <a:ext cx="55245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6F726F"/>
                </a:solidFill>
                <a:latin typeface="Meiryo UI"/>
                <a:ea typeface="Meiryo UI"/>
                <a:cs typeface="Meiryo UI"/>
              </a:rPr>
              <a:t>表現と品質を確認し、連作企画へ。</a:t>
            </a:r>
            <a:endParaRPr lang="ja-JP"/>
          </a:p>
        </p:txBody>
      </p:sp>
      <p:pic>
        <p:nvPicPr>
          <p:cNvPr id="41" name="Imag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77875" y="7248525"/>
            <a:ext cx="1238250" cy="1238250"/>
          </a:xfrm>
          <a:prstGeom prst="rect">
            <a:avLst/>
          </a:prstGeom>
        </p:spPr>
      </p:pic>
      <p:sp>
        <p:nvSpPr>
          <p:cNvPr id="42" name="Text 42: 作品を見る"/>
          <p:cNvSpPr txBox="1"/>
          <p:nvPr/>
        </p:nvSpPr>
        <p:spPr>
          <a:xfrm>
            <a:off x="11858625" y="7486492"/>
            <a:ext cx="1571625" cy="3771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650">
                <a:solidFill>
                  <a:srgbClr val="B34E31"/>
                </a:solidFill>
                <a:latin typeface="Meiryo UI"/>
                <a:ea typeface="Meiryo UI"/>
                <a:cs typeface="Meiryo UI"/>
              </a:rPr>
              <a:t>作品を見る</a:t>
            </a:r>
            <a:endParaRPr lang="ja-JP"/>
          </a:p>
        </p:txBody>
      </p:sp>
      <p:sp>
        <p:nvSpPr>
          <p:cNvPr id="43" name="Text 43: YouTube"/>
          <p:cNvSpPr txBox="1"/>
          <p:nvPr/>
        </p:nvSpPr>
        <p:spPr>
          <a:xfrm>
            <a:off x="11858625" y="7833736"/>
            <a:ext cx="15716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/>
            <a:r>
              <a:rPr lang="ja-JP" sz="1500">
                <a:solidFill>
                  <a:srgbClr val="252D30"/>
                </a:solidFill>
                <a:latin typeface="Meiryo UI"/>
                <a:ea typeface="Meiryo UI"/>
                <a:cs typeface="Meiryo UI"/>
              </a:rPr>
              <a:t>YouTube</a:t>
            </a:r>
            <a:endParaRPr lang="ja-J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dogiwa Meiryo UI">
  <a:themeElements>
    <a:clrScheme name="Madogiwa">
      <a:dk1>
        <a:srgbClr val="252D30"/>
      </a:dk1>
      <a:lt1>
        <a:srgbClr val="FFFFFF"/>
      </a:lt1>
      <a:dk2>
        <a:srgbClr val="6F726F"/>
      </a:dk2>
      <a:lt2>
        <a:srgbClr val="F4F0E8"/>
      </a:lt2>
      <a:accent1>
        <a:srgbClr val="B34E31"/>
      </a:accent1>
      <a:accent2>
        <a:srgbClr val="007E86"/>
      </a:accent2>
      <a:accent3>
        <a:srgbClr val="567088"/>
      </a:accent3>
      <a:accent4>
        <a:srgbClr val="9BAAB0"/>
      </a:accent4>
      <a:accent5>
        <a:srgbClr val="C7AA82"/>
      </a:accent5>
      <a:accent6>
        <a:srgbClr val="E2CCB0"/>
      </a:accent6>
      <a:hlink>
        <a:srgbClr val="007E86"/>
      </a:hlink>
      <a:folHlink>
        <a:srgbClr val="B34E31"/>
      </a:folHlink>
    </a:clrScheme>
    <a:fontScheme name="Meiryo UI">
      <a:majorFont>
        <a:latin typeface="Meiryo UI"/>
        <a:ea typeface="Meiryo UI"/>
        <a:cs typeface="Meiryo UI"/>
      </a:majorFont>
      <a:minorFont>
        <a:latin typeface="Meiryo UI"/>
        <a:ea typeface="Meiryo UI"/>
        <a:cs typeface="Meiryo UI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